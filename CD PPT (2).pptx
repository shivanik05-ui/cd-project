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73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409105" y="2397621"/>
            <a:ext cx="367545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143000" y="1139428"/>
            <a:ext cx="7715250" cy="2500313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1139428"/>
            <a:ext cx="107156" cy="2500313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4"/>
          <p:cNvSpPr/>
          <p:nvPr/>
        </p:nvSpPr>
        <p:spPr>
          <a:xfrm>
            <a:off x="1428750" y="1886676"/>
            <a:ext cx="49291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Web-Based LL(1) Parser Generator</a:t>
            </a:r>
            <a:endParaRPr lang="en-US" sz="3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88" y="1425178"/>
            <a:ext cx="1928813" cy="19288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782616"/>
            <a:ext cx="7715250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Educational Tool for Compiler Design Mastery</a:t>
            </a:r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25F6F8-AFDC-5559-6DC7-03869965A3ED}"/>
              </a:ext>
            </a:extLst>
          </p:cNvPr>
          <p:cNvSpPr txBox="1"/>
          <p:nvPr/>
        </p:nvSpPr>
        <p:spPr>
          <a:xfrm>
            <a:off x="1281572" y="4120096"/>
            <a:ext cx="2792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Montserrat "/>
              </a:rPr>
              <a:t>By batch 10:</a:t>
            </a:r>
            <a:br>
              <a:rPr lang="en-GB" sz="1000" dirty="0">
                <a:latin typeface="Montserrat "/>
              </a:rPr>
            </a:br>
            <a:r>
              <a:rPr lang="en-GB" sz="1000" dirty="0">
                <a:latin typeface="Montserrat "/>
              </a:rPr>
              <a:t>M. Prashamsa 2420030692</a:t>
            </a:r>
          </a:p>
          <a:p>
            <a:r>
              <a:rPr lang="en-GB" sz="1000" dirty="0">
                <a:latin typeface="Montserrat "/>
              </a:rPr>
              <a:t>K. Shivani 2420030702</a:t>
            </a:r>
          </a:p>
          <a:p>
            <a:r>
              <a:rPr lang="en-GB" sz="1000" dirty="0" err="1">
                <a:latin typeface="Montserrat "/>
              </a:rPr>
              <a:t>Shashivarshan</a:t>
            </a:r>
            <a:r>
              <a:rPr lang="en-GB" sz="1000" dirty="0">
                <a:latin typeface="Montserrat "/>
              </a:rPr>
              <a:t> 2420030570</a:t>
            </a:r>
            <a:endParaRPr lang="en-US" sz="1000" dirty="0">
              <a:latin typeface="Montserrat 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738485" y="2397621"/>
            <a:ext cx="233422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1050131"/>
          </a:xfrm>
          <a:prstGeom prst="rect">
            <a:avLst/>
          </a:prstGeom>
          <a:noFill/>
          <a:ln/>
        </p:spPr>
        <p:txBody>
          <a:bodyPr wrap="square" lIns="0" tIns="0" rIns="0" bIns="25514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LEARNING CURVE IN SYNTAX ANALYSIS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478756"/>
            <a:ext cx="3214688" cy="11483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285875" y="1478756"/>
            <a:ext cx="71438" cy="11483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5"/>
          <p:cNvSpPr/>
          <p:nvPr/>
        </p:nvSpPr>
        <p:spPr>
          <a:xfrm>
            <a:off x="1464469" y="1657350"/>
            <a:ext cx="2857500" cy="2625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1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Conceptual Density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4469" y="2048470"/>
            <a:ext cx="28575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FIRST/FOLLOW sets and predictive tables present abstract logic that is difficult to internalize without real-time interaction.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85875" y="2769989"/>
            <a:ext cx="3214688" cy="13412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285875" y="2769989"/>
            <a:ext cx="71438" cy="134123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9"/>
          <p:cNvSpPr/>
          <p:nvPr/>
        </p:nvSpPr>
        <p:spPr>
          <a:xfrm>
            <a:off x="1464469" y="2948583"/>
            <a:ext cx="2857500" cy="2625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1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Manual Inefficiency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64469" y="3339703"/>
            <a:ext cx="28575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parsing is time-consuming and prone to human error, which discourages student experimentation and deep exploration.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285875" y="4254103"/>
            <a:ext cx="3214688" cy="74295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5" name="Text 12"/>
          <p:cNvSpPr/>
          <p:nvPr/>
        </p:nvSpPr>
        <p:spPr>
          <a:xfrm>
            <a:off x="1464469" y="4525566"/>
            <a:ext cx="28575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Textbooks lack dynamic feedback. Students need to see the hierarchical relationship between rules and tokens.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86313" y="1478756"/>
            <a:ext cx="3929063" cy="2886075"/>
          </a:xfrm>
          <a:prstGeom prst="rect">
            <a:avLst/>
          </a:prstGeom>
          <a:solidFill>
            <a:srgbClr val="FFFFFF"/>
          </a:solidFill>
          <a:ln w="36576">
            <a:solidFill>
              <a:srgbClr val="00005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621631"/>
            <a:ext cx="3286125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69664" y="2397621"/>
            <a:ext cx="1196578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GOALS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703659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BRIDGING THEORY AND PRACTICE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132284"/>
            <a:ext cx="3643313" cy="1785938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7" name="Text 4"/>
          <p:cNvSpPr/>
          <p:nvPr/>
        </p:nvSpPr>
        <p:spPr>
          <a:xfrm>
            <a:off x="1500188" y="1346597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⚙️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93094" y="1381423"/>
            <a:ext cx="19823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ROBUST LL(1) ENGINE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0188" y="1875234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a parsing core capable of handling complex context-free grammars with mathematical precision.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72063" y="1132284"/>
            <a:ext cx="3643313" cy="17859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5286375" y="1346597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📊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79281" y="1381423"/>
            <a:ext cx="169485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AUTOMATED SETS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86375" y="1875234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Eliminate manual errors by dynamically computing FIRST and FOLLOW sets for any given production rules.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285875" y="3061097"/>
            <a:ext cx="3643313" cy="17859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1500188" y="3275409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893094" y="3310235"/>
            <a:ext cx="164663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DYNAMIC TABLES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00188" y="3804047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 predictive parsing tables that provide immediate visual confirmation of grammar validity.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72063" y="3061097"/>
            <a:ext cx="3643313" cy="1785938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9" name="Text 16"/>
          <p:cNvSpPr/>
          <p:nvPr/>
        </p:nvSpPr>
        <p:spPr>
          <a:xfrm>
            <a:off x="5286375" y="3275409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🌳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679281" y="3310235"/>
            <a:ext cx="189130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 DERIVATION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86375" y="3804047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high-quality parse trees to visualize the hierarchical structure of processed tokens.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50912" y="2397621"/>
            <a:ext cx="115907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STACK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703659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SYNERGISTIC TECH STACK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132284"/>
            <a:ext cx="3625453" cy="175021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4"/>
          <p:cNvSpPr/>
          <p:nvPr/>
        </p:nvSpPr>
        <p:spPr>
          <a:xfrm>
            <a:off x="1464469" y="1439466"/>
            <a:ext cx="12180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🐍 PYTHON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672" y="1310878"/>
            <a:ext cx="500063" cy="500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4469" y="2046684"/>
            <a:ext cx="326826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logic engine. Handles grammar validation, set theory computations, and the stack-based parsing algorithm.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89922" y="1132284"/>
            <a:ext cx="3625453" cy="1750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5268516" y="1439466"/>
            <a:ext cx="10108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51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🌐 FLASK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719" y="1310878"/>
            <a:ext cx="500063" cy="5000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68516" y="2046684"/>
            <a:ext cx="326826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lightweight web framework that bridges the backend logic with the interactive user interface.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285875" y="3061097"/>
            <a:ext cx="3625453" cy="1750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1464469" y="3368278"/>
            <a:ext cx="14376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51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🌳 GRAPHVIZ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672" y="3239691"/>
            <a:ext cx="500063" cy="5000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4469" y="3975497"/>
            <a:ext cx="326826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visualization tool that converts parsing results into high-quality hierarchical tree diagrams.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089922" y="3061097"/>
            <a:ext cx="3625453" cy="175021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3"/>
          <p:cNvSpPr/>
          <p:nvPr/>
        </p:nvSpPr>
        <p:spPr>
          <a:xfrm>
            <a:off x="5268516" y="3239691"/>
            <a:ext cx="165199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👨‍💻 BOOTSTRAP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268516" y="3718322"/>
            <a:ext cx="326826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a professional, responsive, and accessible interface across all modern web browsers.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656332" y="2397621"/>
            <a:ext cx="216991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LOGIC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1121569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FOUNDATION: FIRST AND FOLLOW SETS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550194"/>
            <a:ext cx="7429500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285875" y="1550194"/>
            <a:ext cx="107156" cy="157162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5"/>
          <p:cNvSpPr/>
          <p:nvPr/>
        </p:nvSpPr>
        <p:spPr>
          <a:xfrm>
            <a:off x="1571625" y="1693069"/>
            <a:ext cx="6858000" cy="47505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5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FIRST(E) → { id, ( }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71625" y="2339578"/>
            <a:ext cx="6858000" cy="58003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6323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FIRST</a:t>
            </a:r>
            <a:r>
              <a:rPr lang="en-US" sz="12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determines which terminal can appear first in a derivation from a non-terminal.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85875" y="3178969"/>
            <a:ext cx="7429500" cy="157162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1" name="Shape 8"/>
          <p:cNvSpPr/>
          <p:nvPr/>
        </p:nvSpPr>
        <p:spPr>
          <a:xfrm>
            <a:off x="1285875" y="3178969"/>
            <a:ext cx="107156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571625" y="3321844"/>
            <a:ext cx="6858000" cy="47505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651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FOLLOW(E) → { ), $ }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571625" y="3968353"/>
            <a:ext cx="6858000" cy="58003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FOLLOW</a:t>
            </a: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identifies which terminals may legally follow a non-terminal in a sentential form.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483989" y="2397621"/>
            <a:ext cx="182522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632222"/>
          </a:xfrm>
          <a:prstGeom prst="rect">
            <a:avLst/>
          </a:prstGeom>
          <a:noFill/>
          <a:ln/>
        </p:spPr>
        <p:txBody>
          <a:bodyPr wrap="square" lIns="0" tIns="0" rIns="0" bIns="25514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REAL-TIME FEEDBACK LOOP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060847"/>
            <a:ext cx="3214688" cy="9997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285875" y="1060847"/>
            <a:ext cx="71438" cy="99973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5"/>
          <p:cNvSpPr/>
          <p:nvPr/>
        </p:nvSpPr>
        <p:spPr>
          <a:xfrm>
            <a:off x="1464469" y="1203722"/>
            <a:ext cx="2857500" cy="2625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📊 Set Generation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4469" y="1580555"/>
            <a:ext cx="2857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FIRST and FOLLOW sets immediately upon grammar definition, ensuring mathematical accuracy.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285875" y="2203456"/>
            <a:ext cx="3214688" cy="839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285875" y="2203456"/>
            <a:ext cx="71438" cy="83972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9"/>
          <p:cNvSpPr/>
          <p:nvPr/>
        </p:nvSpPr>
        <p:spPr>
          <a:xfrm>
            <a:off x="1464469" y="2346331"/>
            <a:ext cx="2857500" cy="2625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⚙️ Stack Tracing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64469" y="2723164"/>
            <a:ext cx="2857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every Match and Expand action in real-time as the parser processes tokens.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285875" y="3186057"/>
            <a:ext cx="3214688" cy="9997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285875" y="3186057"/>
            <a:ext cx="71438" cy="99973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1464469" y="3328932"/>
            <a:ext cx="2857500" cy="2625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🌳 Derivation Trees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464469" y="3705765"/>
            <a:ext cx="2857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Visualize the logical hierarchy of expressions through high-quality parse trees rendered dynamically.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86313" y="1060847"/>
            <a:ext cx="3929063" cy="3471863"/>
          </a:xfrm>
          <a:prstGeom prst="rect">
            <a:avLst/>
          </a:prstGeom>
          <a:solidFill>
            <a:srgbClr val="FFFFFF"/>
          </a:solidFill>
          <a:ln w="36576">
            <a:solidFill>
              <a:srgbClr val="E6510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203722"/>
            <a:ext cx="3286125" cy="28575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00625" y="4089797"/>
            <a:ext cx="3571875" cy="22860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EXAMPLE GENERATED PARSE TREE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935831" y="2397621"/>
            <a:ext cx="272891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285750"/>
            <a:ext cx="7429500" cy="560784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MODULAR SYSTEM FLOW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846534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4"/>
          <p:cNvSpPr/>
          <p:nvPr/>
        </p:nvSpPr>
        <p:spPr>
          <a:xfrm>
            <a:off x="1285875" y="846534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👨‍💻 USER INPUT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828925" y="846534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6"/>
          <p:cNvSpPr/>
          <p:nvPr/>
        </p:nvSpPr>
        <p:spPr>
          <a:xfrm>
            <a:off x="2828925" y="846534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🌐 WEB INTERFACE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285875" y="1346597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1285875" y="1346597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📄 GRAMMAR PROCESSOR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828925" y="1346597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0"/>
          <p:cNvSpPr/>
          <p:nvPr/>
        </p:nvSpPr>
        <p:spPr>
          <a:xfrm>
            <a:off x="2828925" y="1346597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📊 FIRST &amp; FOLLOW ENGINE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285875" y="1846659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1285875" y="1846659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📋 PARSING TABLE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28925" y="1846659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4"/>
          <p:cNvSpPr/>
          <p:nvPr/>
        </p:nvSpPr>
        <p:spPr>
          <a:xfrm>
            <a:off x="2828925" y="1846659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⚙️ LL(1) PARSER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285875" y="2346722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6"/>
          <p:cNvSpPr/>
          <p:nvPr/>
        </p:nvSpPr>
        <p:spPr>
          <a:xfrm>
            <a:off x="1285875" y="2346722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🌳 TREE GENERATOR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828925" y="2346722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8"/>
          <p:cNvSpPr/>
          <p:nvPr/>
        </p:nvSpPr>
        <p:spPr>
          <a:xfrm>
            <a:off x="2828925" y="2346722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✅ RESULT OUTPUT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285875" y="2846784"/>
            <a:ext cx="1600200" cy="41433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0"/>
          <p:cNvSpPr/>
          <p:nvPr/>
        </p:nvSpPr>
        <p:spPr>
          <a:xfrm>
            <a:off x="1285875" y="2846784"/>
            <a:ext cx="1600200" cy="414338"/>
          </a:xfrm>
          <a:prstGeom prst="rect">
            <a:avLst/>
          </a:prstGeom>
          <a:noFill/>
          <a:ln/>
        </p:spPr>
        <p:txBody>
          <a:bodyPr wrap="square" lIns="85090" tIns="68072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🔁 (PIPELINE)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457700" y="917972"/>
            <a:ext cx="4257675" cy="4086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457700" y="917972"/>
            <a:ext cx="57150" cy="408617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26" name="Text 23"/>
          <p:cNvSpPr/>
          <p:nvPr/>
        </p:nvSpPr>
        <p:spPr>
          <a:xfrm>
            <a:off x="4543425" y="1003697"/>
            <a:ext cx="4086225" cy="19288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Engine Logic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43425" y="1196578"/>
            <a:ext cx="40862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handles the heavy lifting of set theory and stack-based derivations.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457700" y="1412314"/>
            <a:ext cx="4257675" cy="4086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457700" y="1412314"/>
            <a:ext cx="57150" cy="408617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30" name="Text 27"/>
          <p:cNvSpPr/>
          <p:nvPr/>
        </p:nvSpPr>
        <p:spPr>
          <a:xfrm>
            <a:off x="4543425" y="1498039"/>
            <a:ext cx="4086225" cy="19288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Visualization Layer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43425" y="1690920"/>
            <a:ext cx="40862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Graphviz converts internal parsing steps into high-quality hierarchical trees.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457700" y="1906656"/>
            <a:ext cx="4257675" cy="4086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4457700" y="1906656"/>
            <a:ext cx="57150" cy="408617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34" name="Text 31"/>
          <p:cNvSpPr/>
          <p:nvPr/>
        </p:nvSpPr>
        <p:spPr>
          <a:xfrm>
            <a:off x="4543425" y="1992381"/>
            <a:ext cx="4086225" cy="19288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Orchestration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43425" y="2185262"/>
            <a:ext cx="40862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manages the request-response cycle between the UI and the backend.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392906" y="2397621"/>
            <a:ext cx="164306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PROCESS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143000" y="428625"/>
            <a:ext cx="7715250" cy="775097"/>
          </a:xfrm>
          <a:prstGeom prst="rect">
            <a:avLst/>
          </a:prstGeom>
          <a:noFill/>
          <a:ln/>
        </p:spPr>
        <p:txBody>
          <a:bodyPr wrap="square" lIns="0" tIns="0" rIns="0" bIns="425196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STREAMLINED END-TO-END WORKFLOW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143000" y="1203722"/>
            <a:ext cx="1848445" cy="271462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4"/>
          <p:cNvSpPr/>
          <p:nvPr/>
        </p:nvSpPr>
        <p:spPr>
          <a:xfrm>
            <a:off x="1285875" y="1418034"/>
            <a:ext cx="1562695" cy="49113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👨‍💻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285875" y="1909167"/>
            <a:ext cx="1562695" cy="29468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INPUT PHASE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85875" y="2461022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provides expression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285875" y="2703909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Grammar rules loaded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285875" y="2946797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Tokenization of input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098602" y="1203722"/>
            <a:ext cx="1848445" cy="271462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3" name="Text 10"/>
          <p:cNvSpPr/>
          <p:nvPr/>
        </p:nvSpPr>
        <p:spPr>
          <a:xfrm>
            <a:off x="1285875" y="2532459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285875" y="277534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85875" y="3018234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41477" y="1418034"/>
            <a:ext cx="1562695" cy="49113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⚙️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3241477" y="1909167"/>
            <a:ext cx="1562695" cy="29468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41477" y="2461022"/>
            <a:ext cx="1562695" cy="414338"/>
          </a:xfrm>
          <a:prstGeom prst="rect">
            <a:avLst/>
          </a:prstGeom>
          <a:noFill/>
          <a:ln/>
        </p:spPr>
        <p:txBody>
          <a:bodyPr wrap="squar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FIRST/FOLLOW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41477" y="2875359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Parsing Table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41477" y="3118247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Stack-Based Parse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54203" y="1203722"/>
            <a:ext cx="1848445" cy="271462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19"/>
          <p:cNvSpPr/>
          <p:nvPr/>
        </p:nvSpPr>
        <p:spPr>
          <a:xfrm>
            <a:off x="3241477" y="2532459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41477" y="294679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41477" y="3189684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197078" y="1418034"/>
            <a:ext cx="1562695" cy="49113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🌳</a:t>
            </a:r>
            <a:endParaRPr lang="en-US" sz="2150" dirty="0"/>
          </a:p>
        </p:txBody>
      </p:sp>
      <p:sp>
        <p:nvSpPr>
          <p:cNvPr id="26" name="Text 23"/>
          <p:cNvSpPr/>
          <p:nvPr/>
        </p:nvSpPr>
        <p:spPr>
          <a:xfrm>
            <a:off x="5197078" y="1909167"/>
            <a:ext cx="1562695" cy="29468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197078" y="2461022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Tree Nodes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197078" y="2703909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Parent-Child Edges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197078" y="2946797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Graphviz Image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009805" y="1203722"/>
            <a:ext cx="1848445" cy="271462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31" name="Text 28"/>
          <p:cNvSpPr/>
          <p:nvPr/>
        </p:nvSpPr>
        <p:spPr>
          <a:xfrm>
            <a:off x="5197078" y="2532459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197078" y="277534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197078" y="3018234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152680" y="1418034"/>
            <a:ext cx="1562695" cy="49113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2150" dirty="0"/>
          </a:p>
        </p:txBody>
      </p:sp>
      <p:sp>
        <p:nvSpPr>
          <p:cNvPr id="35" name="Text 32"/>
          <p:cNvSpPr/>
          <p:nvPr/>
        </p:nvSpPr>
        <p:spPr>
          <a:xfrm>
            <a:off x="7152680" y="1909167"/>
            <a:ext cx="1562695" cy="29468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152680" y="2461022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Parsing Steps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152680" y="2703909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Interactive Table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152680" y="2946797"/>
            <a:ext cx="1562695" cy="242888"/>
          </a:xfrm>
          <a:prstGeom prst="rect">
            <a:avLst/>
          </a:prstGeom>
          <a:noFill/>
          <a:ln/>
        </p:spPr>
        <p:txBody>
          <a:bodyPr wrap="none" lIns="170053" tIns="8509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 Final Tree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152680" y="2532459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152680" y="277534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152680" y="3018234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634901" y="2397621"/>
            <a:ext cx="2127052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ALGORITHM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632222"/>
          </a:xfrm>
          <a:prstGeom prst="rect">
            <a:avLst/>
          </a:prstGeom>
          <a:noFill/>
          <a:ln/>
        </p:spPr>
        <p:txBody>
          <a:bodyPr wrap="square" lIns="0" tIns="0" rIns="0" bIns="25514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LL(1) PARSING WORKS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060847"/>
            <a:ext cx="3214688" cy="53578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7" name="Shape 4"/>
          <p:cNvSpPr/>
          <p:nvPr/>
        </p:nvSpPr>
        <p:spPr>
          <a:xfrm>
            <a:off x="1285875" y="1060847"/>
            <a:ext cx="71438" cy="535781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5"/>
          <p:cNvSpPr/>
          <p:nvPr/>
        </p:nvSpPr>
        <p:spPr>
          <a:xfrm>
            <a:off x="1285875" y="1060847"/>
            <a:ext cx="3214688" cy="535781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1. Read Next Input Token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285875" y="1682353"/>
            <a:ext cx="3214688" cy="53578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0" name="Shape 7"/>
          <p:cNvSpPr/>
          <p:nvPr/>
        </p:nvSpPr>
        <p:spPr>
          <a:xfrm>
            <a:off x="1285875" y="1682353"/>
            <a:ext cx="71438" cy="535781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1285875" y="1682353"/>
            <a:ext cx="3214688" cy="535781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 Inspect Top of Stack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85875" y="2303859"/>
            <a:ext cx="3214688" cy="53578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3" name="Shape 10"/>
          <p:cNvSpPr/>
          <p:nvPr/>
        </p:nvSpPr>
        <p:spPr>
          <a:xfrm>
            <a:off x="1285875" y="2303859"/>
            <a:ext cx="71438" cy="535781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1"/>
          <p:cNvSpPr/>
          <p:nvPr/>
        </p:nvSpPr>
        <p:spPr>
          <a:xfrm>
            <a:off x="1285875" y="2303859"/>
            <a:ext cx="3214688" cy="535781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 Lookup Parsing Table Entry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285875" y="2925366"/>
            <a:ext cx="3214688" cy="53578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6" name="Shape 13"/>
          <p:cNvSpPr/>
          <p:nvPr/>
        </p:nvSpPr>
        <p:spPr>
          <a:xfrm>
            <a:off x="1285875" y="2925366"/>
            <a:ext cx="71438" cy="535781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4"/>
          <p:cNvSpPr/>
          <p:nvPr/>
        </p:nvSpPr>
        <p:spPr>
          <a:xfrm>
            <a:off x="1285875" y="2925366"/>
            <a:ext cx="3214688" cy="535781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4. Apply Production Rule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285875" y="3546872"/>
            <a:ext cx="3214688" cy="53578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9" name="Shape 16"/>
          <p:cNvSpPr/>
          <p:nvPr/>
        </p:nvSpPr>
        <p:spPr>
          <a:xfrm>
            <a:off x="1285875" y="3546872"/>
            <a:ext cx="71438" cy="535781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7"/>
          <p:cNvSpPr/>
          <p:nvPr/>
        </p:nvSpPr>
        <p:spPr>
          <a:xfrm>
            <a:off x="1285875" y="3546872"/>
            <a:ext cx="3214688" cy="535781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5. Match Terminal &amp; Pop Stack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285875" y="4168378"/>
            <a:ext cx="3214688" cy="53578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22" name="Shape 19"/>
          <p:cNvSpPr/>
          <p:nvPr/>
        </p:nvSpPr>
        <p:spPr>
          <a:xfrm>
            <a:off x="1285875" y="4168378"/>
            <a:ext cx="71438" cy="535781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0"/>
          <p:cNvSpPr/>
          <p:nvPr/>
        </p:nvSpPr>
        <p:spPr>
          <a:xfrm>
            <a:off x="1285875" y="4168378"/>
            <a:ext cx="3214688" cy="535781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6. Accept / Reject Result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86313" y="1060847"/>
            <a:ext cx="3929063" cy="3600450"/>
          </a:xfrm>
          <a:prstGeom prst="rect">
            <a:avLst/>
          </a:prstGeom>
          <a:solidFill>
            <a:srgbClr val="FFFFFF"/>
          </a:solidFill>
          <a:ln w="36576">
            <a:solidFill>
              <a:srgbClr val="000051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203722"/>
            <a:ext cx="3643313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F219D-B5D7-F9C1-2FC3-19D67452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0"/>
            <a:ext cx="9191625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6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783134" y="2397621"/>
            <a:ext cx="242351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1121569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VISUALIZING LOGIC FOR CONCEPTUAL MASTERY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550194"/>
            <a:ext cx="4329113" cy="3353991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7" name="Text 4"/>
          <p:cNvSpPr/>
          <p:nvPr/>
        </p:nvSpPr>
        <p:spPr>
          <a:xfrm>
            <a:off x="1571625" y="1835944"/>
            <a:ext cx="3757613" cy="525066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👨‍💻 SHIFTING FOCUS TO HIGH-LEVEL THEORY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71625" y="2503884"/>
            <a:ext cx="3757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automating tedious manual calculations, the tool allows students to focus on the underlying logic of syntax analysis and grammar construction.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71625" y="3332559"/>
            <a:ext cx="3757613" cy="82867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can verify their manual work against an authoritative source, eliminating the frustration of cascading errors.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29300" y="1550194"/>
            <a:ext cx="2886075" cy="167520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6043613" y="1728788"/>
            <a:ext cx="2457450" cy="525066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🌳 HIERARCHICAL CLARITY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43613" y="2396728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trees make the abstract relationship between tokens and rules immediately obvious.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29300" y="3368278"/>
            <a:ext cx="2886075" cy="153590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1"/>
          <p:cNvSpPr/>
          <p:nvPr/>
        </p:nvSpPr>
        <p:spPr>
          <a:xfrm>
            <a:off x="6043613" y="3546872"/>
            <a:ext cx="2457450" cy="316111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🌐 ZERO-SETUP ACCESS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43613" y="4005858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Web-based approach ensures experimentation without complex local configurations.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547390" y="2397621"/>
            <a:ext cx="195203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 CASES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703659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VERSATILE ACADEMIC APPLICATIONS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132284"/>
            <a:ext cx="7429500" cy="1178719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7" name="Text 4"/>
          <p:cNvSpPr/>
          <p:nvPr/>
        </p:nvSpPr>
        <p:spPr>
          <a:xfrm>
            <a:off x="1500188" y="1601986"/>
            <a:ext cx="71437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👨‍💻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214563" y="1369284"/>
            <a:ext cx="6286500" cy="26610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COMPILER DESIGN LABS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14563" y="1763976"/>
            <a:ext cx="6286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Serves as a primary tool for practical sessions, allowing students to verify grammar validity and set computations during lab assignments.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85875" y="2453878"/>
            <a:ext cx="7429500" cy="117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285875" y="2453878"/>
            <a:ext cx="107156" cy="117871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9"/>
          <p:cNvSpPr/>
          <p:nvPr/>
        </p:nvSpPr>
        <p:spPr>
          <a:xfrm>
            <a:off x="1500188" y="2923580"/>
            <a:ext cx="71437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E65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🌐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214563" y="2690878"/>
            <a:ext cx="6286500" cy="26610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CLASSROOM DEMONSTRATIONS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14563" y="3085570"/>
            <a:ext cx="6286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lecturers with a dynamic visual aid to explain the step-by-step mechanics of predictive parsing and tree construction.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285875" y="3775472"/>
            <a:ext cx="7429500" cy="1178719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6" name="Text 13"/>
          <p:cNvSpPr/>
          <p:nvPr/>
        </p:nvSpPr>
        <p:spPr>
          <a:xfrm>
            <a:off x="1500188" y="4245173"/>
            <a:ext cx="71437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🌳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214563" y="4012471"/>
            <a:ext cx="6286500" cy="26610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SYNTAX RESEARCH &amp; SELF-STUDY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14563" y="4407164"/>
            <a:ext cx="6286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Empowers students and researchers to explore complex grammars and master the intricacies of syntax analysis at their own pace.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488454" y="2397621"/>
            <a:ext cx="183415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ROADMAP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703659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5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EXPANSION AND ROADMAP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132284"/>
            <a:ext cx="1840436" cy="71437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7" name="Text 4"/>
          <p:cNvSpPr/>
          <p:nvPr/>
        </p:nvSpPr>
        <p:spPr>
          <a:xfrm>
            <a:off x="1428750" y="1510010"/>
            <a:ext cx="214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50219" y="1457325"/>
            <a:ext cx="137609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 GRAMMARS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26311" y="1132284"/>
            <a:ext cx="5589064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126311" y="1132284"/>
            <a:ext cx="71438" cy="71437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3126311" y="1132284"/>
            <a:ext cx="5589064" cy="714375"/>
          </a:xfrm>
          <a:prstGeom prst="rect">
            <a:avLst/>
          </a:prstGeom>
          <a:noFill/>
          <a:ln/>
        </p:spPr>
        <p:txBody>
          <a:bodyPr wrap="square" lIns="255143" tIns="29768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Enabling users to input and validate their own production rules for personalized experimentation.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285875" y="1953816"/>
            <a:ext cx="1882211" cy="71437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3" name="Text 10"/>
          <p:cNvSpPr/>
          <p:nvPr/>
        </p:nvSpPr>
        <p:spPr>
          <a:xfrm>
            <a:off x="1428750" y="2331541"/>
            <a:ext cx="214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⚙️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50219" y="2278856"/>
            <a:ext cx="14178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ADVANCED ALGORITHMS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68086" y="1953816"/>
            <a:ext cx="5547289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168086" y="1953816"/>
            <a:ext cx="71438" cy="71437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4"/>
          <p:cNvSpPr/>
          <p:nvPr/>
        </p:nvSpPr>
        <p:spPr>
          <a:xfrm>
            <a:off x="3168086" y="1953816"/>
            <a:ext cx="5547289" cy="714375"/>
          </a:xfrm>
          <a:prstGeom prst="rect">
            <a:avLst/>
          </a:prstGeom>
          <a:noFill/>
          <a:ln/>
        </p:spPr>
        <p:txBody>
          <a:bodyPr wrap="square" lIns="255143" tIns="29768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Extending support to LL(k), LR(0), and SLR(1) parsing modules for a broader educational scope.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285875" y="2775347"/>
            <a:ext cx="1924097" cy="71437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19" name="Text 16"/>
          <p:cNvSpPr/>
          <p:nvPr/>
        </p:nvSpPr>
        <p:spPr>
          <a:xfrm>
            <a:off x="1428750" y="3153073"/>
            <a:ext cx="214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🌳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750219" y="3100388"/>
            <a:ext cx="14597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EXPORTING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9972" y="2775347"/>
            <a:ext cx="5505403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3209972" y="2775347"/>
            <a:ext cx="71438" cy="71437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0"/>
          <p:cNvSpPr/>
          <p:nvPr/>
        </p:nvSpPr>
        <p:spPr>
          <a:xfrm>
            <a:off x="3209972" y="2775347"/>
            <a:ext cx="5505403" cy="714375"/>
          </a:xfrm>
          <a:prstGeom prst="rect">
            <a:avLst/>
          </a:prstGeom>
          <a:noFill/>
          <a:ln/>
        </p:spPr>
        <p:txBody>
          <a:bodyPr wrap="square" lIns="255143" tIns="29768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Providing options to save parse trees and parsing tables as high-resolution PDF or SVG files.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285875" y="3596878"/>
            <a:ext cx="1838958" cy="714375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25" name="Text 22"/>
          <p:cNvSpPr/>
          <p:nvPr/>
        </p:nvSpPr>
        <p:spPr>
          <a:xfrm>
            <a:off x="1428750" y="3974604"/>
            <a:ext cx="214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✅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750219" y="4000500"/>
            <a:ext cx="101084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124833" y="3596878"/>
            <a:ext cx="5590542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3124833" y="3596878"/>
            <a:ext cx="71438" cy="71437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6"/>
          <p:cNvSpPr/>
          <p:nvPr/>
        </p:nvSpPr>
        <p:spPr>
          <a:xfrm>
            <a:off x="3124833" y="3596878"/>
            <a:ext cx="5590542" cy="714375"/>
          </a:xfrm>
          <a:prstGeom prst="rect">
            <a:avLst/>
          </a:prstGeom>
          <a:noFill/>
          <a:ln/>
        </p:spPr>
        <p:txBody>
          <a:bodyPr wrap="square" lIns="255143" tIns="29768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Integrating lexical analysis and intermediate code generation for a complete compiler experience.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471487" y="2397621"/>
            <a:ext cx="1800225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3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285875" y="1214438"/>
            <a:ext cx="7429500" cy="3143250"/>
          </a:xfrm>
          <a:prstGeom prst="rect">
            <a:avLst/>
          </a:prstGeom>
          <a:solidFill>
            <a:srgbClr val="000051"/>
          </a:solidFill>
          <a:ln/>
        </p:spPr>
      </p:sp>
      <p:sp>
        <p:nvSpPr>
          <p:cNvPr id="6" name="Shape 3"/>
          <p:cNvSpPr/>
          <p:nvPr/>
        </p:nvSpPr>
        <p:spPr>
          <a:xfrm>
            <a:off x="1285875" y="1214438"/>
            <a:ext cx="107156" cy="314325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4"/>
          <p:cNvSpPr/>
          <p:nvPr/>
        </p:nvSpPr>
        <p:spPr>
          <a:xfrm>
            <a:off x="1571625" y="1500188"/>
            <a:ext cx="68580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WEB-BASED LL(1) PARSER GENERATOR SUCCESSFULLY AUTOMATES PREDICTIVE PARSING BY COMPUTING </a:t>
            </a:r>
            <a:r>
              <a:rPr lang="en-US" sz="1300" b="1" dirty="0">
                <a:solidFill>
                  <a:srgbClr val="E651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FIRST AND FOLLOW SETS</a:t>
            </a:r>
            <a:r>
              <a:rPr lang="en-US" sz="1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, GENERATING LL(1) PARSING TABLES, VALIDATING ARITHMETIC EXPRESSIONS, AND VISUALIZING PARSE TREES.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71625" y="2757488"/>
            <a:ext cx="6858000" cy="67151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combining </a:t>
            </a:r>
            <a:r>
              <a:rPr lang="en-US" sz="1050" dirty="0">
                <a:solidFill>
                  <a:srgbClr val="E65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Flask, and Graphviz</a:t>
            </a:r>
            <a:r>
              <a:rPr lang="en-US" sz="105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into an interactive web application, the project transforms theoretical compiler concepts into a practical learning experience.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863</Words>
  <Application>Microsoft Office PowerPoint</Application>
  <PresentationFormat>On-screen Show (16:9)</PresentationFormat>
  <Paragraphs>161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monospace</vt:lpstr>
      <vt:lpstr>Montserrat</vt:lpstr>
      <vt:lpstr>Montserrat 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keerthishivani0045@outlook.com</cp:lastModifiedBy>
  <cp:revision>2</cp:revision>
  <dcterms:created xsi:type="dcterms:W3CDTF">2026-07-03T16:24:49Z</dcterms:created>
  <dcterms:modified xsi:type="dcterms:W3CDTF">2026-07-03T17:23:53Z</dcterms:modified>
</cp:coreProperties>
</file>